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🌱 AgroSmart Andino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5E9"/>
                </a:solidFill>
              </a:rPr>
              <a:t>Pipeline Big Data con Dashboard en Tiempo Real
para el Monitoreo Inteligente de Papa Nativa
en Huangascar, Yauyos – 3,200 m.s.n.m.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11247120" cy="25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Curso: Big Data   |   Docente: Mg. Rosa Virginia Encinas Quille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  · Montes Espinoza, Anahys        – MIA-2024-001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· Vizcardo Flores, Christian      – MIA-2024-002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· Massa Quispe, Cristhian         – MIA-2024-003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· Huali Condori, Freddy           – MIA-2024-004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· Lazaro Galarza, Wilmer          – MIA-2024-005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9"/>
                </a:solidFill>
              </a:rPr>
              <a:t>Grupo 2   |   Lima, Perú —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Estructura de la presentación — 15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6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463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Contexto agrícola andino y necesidad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84248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60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984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Propuesta de Valor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258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Solución innovadora AgroSmart Andino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79776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8559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779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Requerimientos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0540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Funcionales y no funcionales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75304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6515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75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Arquitectura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496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Pipeline Big Data de extremo a extremo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70832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47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Datos y ETL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451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Fuentes: NASA POWER, IoT, MIDAGRI — Spark en EMR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66359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2425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1663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Modelos 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40679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GBT Regressor: R²=0.6764, RMSE=0.97 t/ha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188720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2649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Cassandra NoSQL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1463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Capa de servicio: 3,794 registros, baja latencia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984248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060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19842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2585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Streamlit: alertas, riego, predicciones en tiempo real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2779776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8559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779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Resultados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0540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Métricas consolidadas del sistema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575304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6515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75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Viabilidad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38496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Escalabilidad, impacto y expansión futura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370832"/>
            <a:ext cx="457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4470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Conclusiones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464515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Experiencias del equipo y aprendizajes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¿Qué desafío enfrenta la agricultura andina?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3035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5E20"/>
                </a:solidFill>
              </a:rPr>
              <a:t>Contexto: Huangascar, Yauyos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212121"/>
                </a:solidFill>
              </a:rPr>
              <a:t>▸ 3,200 m.s.n.m. — zona papicultora andina</a:t>
            </a:r>
          </a:p>
          <a:p>
            <a:pPr algn="l"/>
            <a:r>
              <a:rPr sz="1400">
                <a:solidFill>
                  <a:srgbClr val="212121"/>
                </a:solidFill>
              </a:rPr>
              <a:t>▸ 5 variedades de papa nativa (Solanum tuberosum)</a:t>
            </a:r>
          </a:p>
          <a:p>
            <a:pPr algn="l"/>
            <a:r>
              <a:rPr sz="1400">
                <a:solidFill>
                  <a:srgbClr val="212121"/>
                </a:solidFill>
              </a:rPr>
              <a:t>▸ ~500 familias agricultoras dependientes</a:t>
            </a:r>
          </a:p>
          <a:p>
            <a:pPr algn="l"/>
            <a:r>
              <a:rPr sz="1400">
                <a:solidFill>
                  <a:srgbClr val="212121"/>
                </a:solidFill>
              </a:rPr>
              <a:t>▸ Temporada agrícola: julio – mayo</a:t>
            </a:r>
          </a:p>
          <a:p>
            <a:pPr algn="l"/>
            <a:r>
              <a:rPr sz="1400">
                <a:solidFill>
                  <a:srgbClr val="212121"/>
                </a:solidFill>
              </a:rPr>
              <a:t>▸ Acceso limitado a tecnología y datos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097280" cy="91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69164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reducción de cosecha
por helada no anticipada (2022)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1097280" cy="91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697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432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sistemas de alerta
temprana disponibles localmente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1097280" cy="9144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490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79476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temperatura mínima crítica
para daño en tuberización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097280"/>
            <a:ext cx="59436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1887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722"/>
                </a:solidFill>
              </a:rPr>
              <a:t>⚠ Principales amenazas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645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🌨 Heladas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645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T &lt; 3°C durante tuberización destruye el follaje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560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🍂 Tizón tardío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25603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Phytophthora infestans: &gt;85% HR + T 10-25°C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474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💧 Déficit hídrico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474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ET₀ &gt; precipitación → riego ineficiente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89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📊 Sin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3891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Decisiones basadas solo en experiencia empírica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3035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🌡 Cambio climático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3035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Mayor frecuencia e intensidad de eventos extremos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Propuesta de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¿Por qué AgroSmart Andino es diferente?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C107"/>
                </a:solidFill>
              </a:rPr>
              <a:t>AgroSmart Andino transforma datos climáticos e IoT en decisiones agrícolas accionables
para comunidades andinas, reduciendo pérdidas y optimizando recursos.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3749039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874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🎯 Alerta temprana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2860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Detección automática de heladas,
tizón tardío y déficit hídrico
con semáforo de 3 niveles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828800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828800"/>
            <a:ext cx="3749039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874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ML predictivo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2860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GBT Regressor predicción de
rendimiento por variedad
R²=0.6764 en EMR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1828800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828800"/>
            <a:ext cx="3749039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874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💧 Riego inteligente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286000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Recomendaciones de riego
calculadas con ET₀ (Penman-Monteith)
y humedad de suelo IoT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77639"/>
            <a:ext cx="3749039" cy="41148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0233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☁ Pipeline Big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434839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NASA POWER + IoT → S3 Raw
→ Spark EMR → S3 Gold
→ Cassandra →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977639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3977639"/>
            <a:ext cx="3749039" cy="41148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399" y="40233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⚡ Baja latencia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4434839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Apache Cassandra 4.1
3,794 registros consultables
en &lt; 10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3977639"/>
            <a:ext cx="3749039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3977639"/>
            <a:ext cx="3749039" cy="41148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19" y="4023359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Dashboard 24/7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434839"/>
            <a:ext cx="3566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Streamlit con 11 componentes
visuales: KPIs, mapas de riesgo,
predicciones y alertas activas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Requerimientos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Funcionales y No Funcionales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7607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7607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 Requerimientos Funcionales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212121"/>
                </a:solidFill>
              </a:rPr>
              <a:t>  · RF-01: Ingesta automática NASA POWER API (10 años)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RF-02: Ingesta telemetría IoT (52,632 reg. horarios)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RF-03: ETL PySpark: normalización, unión, cálculo índices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RF-04: Cálculo IHB, ITT, IEH, ET₀ para papa andina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RF-05: Entrenamiento RF + GBT con PySpark MLlib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RF-06: Predicción de rendimiento por variedad (t/ha)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RF-07: Generación de alertas: HELADA / TIZÓN / RIEGO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RF-08: Almacenamiento NoSQL en Cassandra 4.1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RF-09: Dashboard Streamlit con visualización interactiva</a:t>
            </a:r>
          </a:p>
          <a:p>
            <a:pPr algn="l"/>
            <a:r>
              <a:rPr sz="1250">
                <a:solidFill>
                  <a:srgbClr val="212121"/>
                </a:solidFill>
              </a:rPr>
              <a:t>  · RF-10: Recomendaciones de riego automatizadas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097280"/>
            <a:ext cx="55778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557784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  Requerimientos No Funcionales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Escalabilidad: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645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EMR auto-scaling: 1–10 nodos 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8541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Rendimiento: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1854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Procesamiento 72,397 registros en &lt; 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2491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Disponibilidad: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72491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Cassandra replication factor = 1 (demo)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644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Seguridad: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2644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Credenciales en .env, S3 IAM policies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80390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Tolerancia fallos: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8039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Reintentos PySpark, logs en 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343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Usabilidad: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434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Dashboard intuitivo sin capacitación técnica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88289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Interoperabilidad: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8828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APIs REST: NASA POWER, MIDAGRI 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223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1579B"/>
                </a:solidFill>
              </a:rPr>
              <a:t>Portabilidad: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4223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Docker Cassandra, Python 3.11, EMR 6.15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Arquitectura Big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Pipeline de extremo a extremo — 5 capas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143000"/>
            <a:ext cx="21031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143000"/>
            <a:ext cx="21031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1. INGESTA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192024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7830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B5E20"/>
                </a:solidFill>
              </a:rPr>
              <a:t>🌍 NASA POWER API
(10 años, 5 estaciones)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200400"/>
            <a:ext cx="192024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29184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B5E20"/>
                </a:solidFill>
              </a:rPr>
              <a:t>📡 Sensores IoT
(52,632 reg. horarios)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709160"/>
            <a:ext cx="192024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80060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1B5E20"/>
                </a:solidFill>
              </a:rPr>
              <a:t>📋 MIDAGRI CSV
(1,500 reg. productivos)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1143000"/>
            <a:ext cx="18288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0" y="1143000"/>
            <a:ext cx="18288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2. S3 DATA LAKE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1691640"/>
            <a:ext cx="1645920" cy="1325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178308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B5E20"/>
                </a:solidFill>
              </a:rPr>
              <a:t>🗂 RAW
s3://agrosmart-
bucket/raw/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200400"/>
            <a:ext cx="1645920" cy="13258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29184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B5E20"/>
                </a:solidFill>
              </a:rPr>
              <a:t>⚙ PROCESSED
s3://.../processed/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709160"/>
            <a:ext cx="1645920" cy="1325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4800600"/>
            <a:ext cx="155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B5E20"/>
                </a:solidFill>
              </a:rPr>
              <a:t>⭐ GOLD
s3://.../gold/
(CSV analíticos)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1143000"/>
            <a:ext cx="210312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80" y="1143000"/>
            <a:ext cx="2103120" cy="457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1188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3. EMR / SPARK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1691640"/>
            <a:ext cx="1920240" cy="1325880"/>
          </a:xfrm>
          <a:prstGeom prst="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173736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🔥 Spark 3.4 en
EMR 6.15 (AWS)
3 nodos m5.xlarge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200400"/>
            <a:ext cx="1920240" cy="1325880"/>
          </a:xfrm>
          <a:prstGeom prst="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0" y="324612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📐 ETL + índices
IHB, ITT, IEH, ET₀
72,397 registros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4709160"/>
            <a:ext cx="1920240" cy="1325880"/>
          </a:xfrm>
          <a:prstGeom prst="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4754880"/>
            <a:ext cx="1828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🤖 ML PySpark
RandomForest + GBT
R²=0.6764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1143000"/>
            <a:ext cx="18288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63840" y="1143000"/>
            <a:ext cx="182880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1188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4. CASSANDRA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1691640"/>
            <a:ext cx="1645920" cy="1325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1737360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1579B"/>
                </a:solidFill>
              </a:rPr>
              <a:t>📊 alertas_riesgo
(1,825 filas)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3200400"/>
            <a:ext cx="1645920" cy="1325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3246120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1579B"/>
                </a:solidFill>
              </a:rPr>
              <a:t>🌡 metricas_clima
(1,964 filas)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4709160"/>
            <a:ext cx="1645920" cy="13258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4754880"/>
            <a:ext cx="1554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1579B"/>
                </a:solidFill>
              </a:rPr>
              <a:t>🌾 predicciones_
rendimiento
(5 variedades)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C107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1143000"/>
            <a:ext cx="173736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41280" y="1143000"/>
            <a:ext cx="173736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87000" y="1188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5. STREAMLIT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32720" y="1691640"/>
            <a:ext cx="1554480" cy="1325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8440" y="18288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🚦 Semáforo
de riesgo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20" y="3200400"/>
            <a:ext cx="1554480" cy="1325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78440" y="333756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💧 Riego
automático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32720" y="4709160"/>
            <a:ext cx="1554480" cy="1325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78440" y="484632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📈 Predicciones
ML en vivo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Datos &amp; Pipeline ETL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Fuentes heterogéneas → Gold Layer | Apache Spark 3.4 en Amazon EMR 6.15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2860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188720"/>
            <a:ext cx="22860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188720"/>
            <a:ext cx="22860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234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Registros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188720"/>
            <a:ext cx="45720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2344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Variables clave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0020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62763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NASA POWER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60020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62763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Climático histórico
(2015–2024)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160020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62763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18,250 diarios
5 estaciones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1600200"/>
            <a:ext cx="4572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62763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T_max, T_min, Prec, HR, 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331720"/>
            <a:ext cx="2286000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35915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Sensores IoT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331720"/>
            <a:ext cx="2286000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235915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Telemetría horaria
(sintética calibrada)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2331720"/>
            <a:ext cx="2286000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35915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52,632 horarios
3 nodos IoT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2331720"/>
            <a:ext cx="4572000" cy="685800"/>
          </a:xfrm>
          <a:prstGeom prst="rect">
            <a:avLst/>
          </a:prstGeom>
          <a:solidFill>
            <a:srgbClr val="E8F5E9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3591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HR suelo, T suelo, pH, N, P, 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06324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0906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MIDAGRI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306324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30906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Estadísticas agrícolas
(Yauyos 2015–2024)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3063240"/>
            <a:ext cx="2286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1,500 productivos
5 variedades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3063240"/>
            <a:ext cx="4572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09067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Rendimiento t/ha, área siembra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840480"/>
            <a:ext cx="115671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886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TOTAL: 72,382 registros procesados en el pipeline Spark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4434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5E20"/>
                </a:solidFill>
              </a:rPr>
              <a:t>Índices Agroclimáticos Calculados con PySpark: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8463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4846320"/>
            <a:ext cx="283464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IHB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Índice de Helada Biológica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55961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IHB = 1 si T_min &lt; 3°C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48463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0" y="4846320"/>
            <a:ext cx="283464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ITT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Índice Tizón Tardío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55961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ITT = f(HR&gt;85%, T 10–25°C)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48463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4846320"/>
            <a:ext cx="283464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IEH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Índice Estrés Hídrico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55961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IEH = Déficit hídrico / ET₀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84632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52560" y="4846320"/>
            <a:ext cx="283464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98280" y="4892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ET₀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Evapotranspiración ref.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98280" y="55961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Penman-Monteith (FAO-56)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PySpark MLlib sobre Amazon EMR 6.15 — Ejecución real: 23 mayo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48640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486400" cy="457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MODELO 1: Clasificación de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RandomForestClassifier (PySpark MLlib)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12121"/>
                </a:solidFill>
              </a:rPr>
              <a:t>▸ Target: nivel_riesgo (BAJO / MEDIO / ALTO / CRÍTICO)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Features: IHB, ITT, IEH, T_min, HR, ET₀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numTrees=100, maxDepth=10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Train/Test: 80%/20% — stratified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Métricas: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97680"/>
            <a:ext cx="1600200" cy="822960"/>
          </a:xfrm>
          <a:prstGeom prst="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315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5722"/>
                </a:solidFill>
              </a:rPr>
              <a:t>~87%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7365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4297680"/>
            <a:ext cx="1600200" cy="822960"/>
          </a:xfrm>
          <a:prstGeom prst="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315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5722"/>
                </a:solidFill>
              </a:rPr>
              <a:t>~0.86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7365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Precision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49040" y="4297680"/>
            <a:ext cx="1600200" cy="822960"/>
          </a:xfrm>
          <a:prstGeom prst="rect">
            <a:avLst/>
          </a:prstGeom>
          <a:solidFill>
            <a:srgbClr val="FF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4315968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5722"/>
                </a:solidFill>
              </a:rPr>
              <a:t>~0.87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7365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12121"/>
                </a:solidFill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2578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⚠ Nota: RandomForest en modo demostrativo.
Métricas estimadas sobre datos sintéticos calibrados.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1097280"/>
            <a:ext cx="57607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1097280"/>
            <a:ext cx="57607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MODELO 2: Regresión de Rendimiento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16459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GBT Regressor — Gradient Boosted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01168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12121"/>
                </a:solidFill>
              </a:rPr>
              <a:t>▸ Target: rendimiento_tm_ha (toneladas/hectárea)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Features: T_media, T_min, Prec, HR, ET₀, altitud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maxIter=50, maxDepth=5, stepSize=0.1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Train/Test: 80%/20% — random split</a:t>
            </a:r>
          </a:p>
          <a:p>
            <a:pPr algn="l"/>
            <a:r>
              <a:rPr sz="1300">
                <a:solidFill>
                  <a:srgbClr val="212121"/>
                </a:solidFill>
              </a:rPr>
              <a:t>▸ Ejecución REAL en AWS EMR cluster 6.15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160520"/>
            <a:ext cx="178308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2062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0.6764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736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R²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02920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Coef. determinación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160520"/>
            <a:ext cx="178308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2062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0.97 t/ha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736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RMSE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502920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Error cuadrático medio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4160520"/>
            <a:ext cx="1783080" cy="10972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420624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</a:rPr>
              <a:t>~0.73 t/ha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47365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MAE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5029200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Error absoluto medio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5349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</a:rPr>
              <a:t>Predicciones por Variedad — Campaña 2025: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715000"/>
            <a:ext cx="105156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5742432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11.3 t/ha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601675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Peruanita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87768" y="5715000"/>
            <a:ext cx="105156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0" y="5742432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10.8 t/ha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601675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Huayro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03336" y="5715000"/>
            <a:ext cx="105156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0768" y="5742432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9.5 t/ha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601675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Canchan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18904" y="5715000"/>
            <a:ext cx="105156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46336" y="5742432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8.2 t/ha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6336" y="601675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Amarilla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34472" y="5715000"/>
            <a:ext cx="105156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661904" y="5742432"/>
            <a:ext cx="996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</a:rPr>
              <a:t>6.3 t/ha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61904" y="6016752"/>
            <a:ext cx="996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2121"/>
                </a:solidFill>
              </a:rPr>
              <a:t>Nativa Roja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Capa de Servicio: Apache Cassandra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NoSQL de baja latencia para alertas y consultas en tiempo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0292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502920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Configuración del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Servidor: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6459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EC2 t2.medium — 54.159.9.135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286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Cassandra: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4.1.9 (Docker compose)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Keyspace: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926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agrosmart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56615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Replication: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661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SimpleStrategy, RF=1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CQL: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CREATE TABLE IF NOT EXISTS...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1579B"/>
                </a:solidFill>
              </a:rPr>
              <a:t>Total registros cargados: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40680"/>
            <a:ext cx="1828800" cy="73152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468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3,794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486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filas totales en 3 tablas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1143000"/>
            <a:ext cx="6492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0" y="1143000"/>
            <a:ext cx="649224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TABLE: alertas_riesgo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188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</a:rPr>
              <a:t>1,825 filas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1600200"/>
            <a:ext cx="6217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Columnas: fecha, estacion_id, nivel_riesgo, ihb, itt, ieh, alerta_helada, alerta_tizon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880360"/>
            <a:ext cx="6492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2880360"/>
            <a:ext cx="649224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TABLE: metricas_clima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926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</a:rPr>
              <a:t>1,964 filas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3337560"/>
            <a:ext cx="6217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Columnas: fecha, estacion_id, t_max, t_min, t_media, prec, humedad, et0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4617720"/>
            <a:ext cx="6492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4617720"/>
            <a:ext cx="6492240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1579B"/>
                </a:solidFill>
              </a:rPr>
              <a:t>TABLE: predicciones_rendimiento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</a:rPr>
              <a:t>5 filas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074920"/>
            <a:ext cx="6217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Columnas: variedad, rendimiento_predicho, rendimiento_historico, modelo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400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5E20"/>
                </a:solidFill>
              </a:rPr>
              <a:t>✅ Verificación real en EC2:
cqlsh 54.159.9.135 → SELECT COUNT(*) = 1825 / 1964 /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AgroSmart Andino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Streamlit 1.x — 11 componentes visuales — Tiempo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10</a:t>
            </a:r>
          </a:p>
        </p:txBody>
      </p:sp>
      <p:pic>
        <p:nvPicPr>
          <p:cNvPr id="9" name="Picture 8" descr="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5120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Componentes del Dashboard: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554480"/>
            <a:ext cx="502920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12121"/>
                </a:solidFill>
              </a:rPr>
              <a:t>🚦 Semáforo de riesgo (BAJO/MEDIO/ALTO/CRÍTICO)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📊 KPIs: altitud, humedad, T.Media, T.Mínima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⚡ Alertas activas: HELADA con timestamp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🌡 Métricas climáticas: Prec 33.7mm, ET₀ 3.20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📈 Serie temporal temperatura (Plotly)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💧 Evolución precipitaciones y ET₀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🍂 Índice de tizón tardío por semana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🗺 Mapa de riesgo por estación (Plotly scatter)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🔮 Gauge rendimiento predicho GBT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📋 Tabla recomendaciones de riego</a:t>
            </a:r>
          </a:p>
          <a:p>
            <a:pPr algn="l"/>
            <a:r>
              <a:rPr sz="1200">
                <a:solidFill>
                  <a:srgbClr val="212121"/>
                </a:solidFill>
              </a:rPr>
              <a:t>🌾 Barras comparativas por variedad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Obtenidos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Ejecución real AWS EMR | Datos verificados en EC2 Cassandra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3749039" cy="2194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</a:rPr>
              <a:t>R² = 0.6764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5E20"/>
                </a:solidFill>
              </a:rPr>
              <a:t>GBT Regressor
(rendimiento t/ha)
ejecución real EMR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097280"/>
            <a:ext cx="3749039" cy="21945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12801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</a:rPr>
              <a:t>RMSE 0.97 t/ha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10312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B5E20"/>
                </a:solidFill>
              </a:rPr>
              <a:t>Error predicción
GBT sobre datos
de prueba EMR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097280"/>
            <a:ext cx="3749039" cy="2194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12801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72,382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39" y="210312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Registros procesados
por Spark
(Raw → Gold)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74720"/>
            <a:ext cx="3749039" cy="2194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3,794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Filas cargadas
en Cassandra
(3 tablas NoSQL)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3474720"/>
            <a:ext cx="3749039" cy="219456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36576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9.2 t/ha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44805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Rendimiento promedio
predicho campaña
2025-2026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474720"/>
            <a:ext cx="3749039" cy="219456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39" y="36576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38 alertas HELADA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4480560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Eventos críticos
detectados en
histórico 2015-2024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Viabilidad, Escalabilidad e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Expansión futura y posibilidades de crecimiento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28346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283464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Escenarios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12121"/>
                </a:solidFill>
              </a:rPr>
              <a:t>▸ Agricultores de Huangascar con alertas SMS/WhatsApp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Municipalidad de Yauyos para planificación de campaña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SENAMHI para validación de datos climáticos locales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MIDAGRI para estadísticas de rendimiento en tiempo real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Universidades para investigación agroclimática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8346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097280"/>
            <a:ext cx="283464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Escalabilidad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12121"/>
                </a:solidFill>
              </a:rPr>
              <a:t>▸ EMR auto-scaling: 1→N nodos worker bajo demanda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Cassandra replication factor expandible a 3+ nodos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NASA POWER cubre todo el territorio peruano (API REST)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Modelo GBT re-entrenable con nuevos datos de campaña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Streamlit Cloud: deploy público sin infraestructura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8346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5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 Limitaciones actuales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600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12121"/>
                </a:solidFill>
              </a:rPr>
              <a:t>▸ IoT sintético (no sensores físicos desplegados)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Cassandra en nodo único (RF=1, sin HA)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Dashboard público en agrosmart-andino.streamlit.app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Modelo entrenado con 1,500 registros históricos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Sin integración con sistemas SENAMHI en tiempo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097280"/>
            <a:ext cx="283464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097280"/>
            <a:ext cx="2834640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🌱 Expansión futura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0020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212121"/>
                </a:solidFill>
              </a:rPr>
              <a:t>▸ Integrar sensores IoT reales (bajo costo: ESP32+DHT22)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Dashboard activo en agrosmart-andino.streamlit.app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API REST para consumo desde apps móviles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Modelo con datos satelitales (Sentinel-2 NDVI)</a:t>
            </a:r>
          </a:p>
          <a:p>
            <a:pPr algn="l"/>
            <a:r>
              <a:rPr sz="1150">
                <a:solidFill>
                  <a:srgbClr val="212121"/>
                </a:solidFill>
              </a:rPr>
              <a:t>▸ Expansión a otras regiones andinas del Perú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107"/>
                </a:solidFill>
              </a:rPr>
              <a:t>Experiencias del equipo y aprendizajes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AgroSmart Andino | Grupo 2 | Big Data – Maestría IA UNI | Mayo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59436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23444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5E20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124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Pipeline Big Data completo: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813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 diseñó e implementó un pipeline de 5 capas sobre AWS:
NASA POWER/IoT → S3 → Spark EMR → Cassandra → Streamlit,
procesando 72,382 registros en ejecución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30552"/>
            <a:ext cx="59436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67712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5E20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579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Machine Learning con impacto real: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5146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 GBT Regressor obtuvo R²=0.6764 y RMSE=0.97 t/ha en ejecución
real sobre EMR 6.15, prediciendo rendimientos por variedad
con valor operativo para agricultores andinos.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63824"/>
            <a:ext cx="59436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300984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5E20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912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Alerta temprana funcional: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478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 sistema detectó 38 eventos HELADA críticos en el histórico
2015-2024, demostrando la viabilidad del sistema de alertas
para reducir pérdidas del 38% observadas en 2022.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97096"/>
            <a:ext cx="59436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334256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5E20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Tecnologías Big Data integradas: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581144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Uso efectivo de Apache Spark, Cassandra 4.1, AWS S3/EMR,
Streamlit y PySpark MLlib en un contexto de aplicación real,
validando la arquitectura propuesta en producción.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30368"/>
            <a:ext cx="59436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367528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B5E20"/>
                </a:solidFill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57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Aprendizajes del equipo: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614416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 combinación de datos heterogéneos (clima + IoT + estadísticas)
requiere ETL cuidadoso. El valor real no está en el algoritmo
sino en la calidad del pipeline y la utilidad para el usuario final.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3657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🌱 AgroSmart Andino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00200"/>
            <a:ext cx="9418320" cy="381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107"/>
                </a:solidFill>
              </a:rPr>
              <a:t>¡Gracias por su atención!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Preguntas y Respuestas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5E9"/>
                </a:solidFill>
              </a:rPr>
              <a:t>📂 Repositorio: github.com/wilmerjelko/Parcial_Caso_Practico_1
📧 Grupo 2 | Maestría IA | UNI | Curso Big Data | Mayo 2026
👩‍🏫 Docente: Mg. Rosa Virginia Encinas Quille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